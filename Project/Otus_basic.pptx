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70" r:id="rId9"/>
    <p:sldId id="267" r:id="rId10"/>
    <p:sldId id="268" r:id="rId11"/>
    <p:sldId id="280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0989E-4162-4EF0-B6CB-B1D61DD9DC95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D0B86-A0AA-4F2C-99A4-636ACEF225F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370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8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9345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0958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834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1834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268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58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567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8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70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22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89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461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41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670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586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30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1031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7400" y="2379700"/>
            <a:ext cx="10580400" cy="15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555785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67400" y="1094951"/>
            <a:ext cx="11360800" cy="26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667400" y="609751"/>
            <a:ext cx="10395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20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4180567" y="3971775"/>
            <a:ext cx="7808400" cy="7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20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3067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4180567" y="4371975"/>
            <a:ext cx="780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4180567" y="4883400"/>
            <a:ext cx="7808400" cy="13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33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28122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667400" y="440981"/>
            <a:ext cx="11360800" cy="13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4903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667400" y="1901959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31789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●"/>
              <a:defRPr sz="2000"/>
            </a:lvl1pPr>
            <a:lvl2pPr marL="1219170" lvl="1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733"/>
            </a:lvl2pPr>
            <a:lvl3pPr marL="1828754" lvl="2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3pPr>
            <a:lvl4pPr marL="2438339" lvl="3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733"/>
            </a:lvl4pPr>
            <a:lvl5pPr marL="3047924" lvl="4" indent="-414856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733"/>
            </a:lvl5pPr>
            <a:lvl6pPr marL="3657509" lvl="5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6pPr>
            <a:lvl7pPr marL="4267093" lvl="6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733"/>
            </a:lvl7pPr>
            <a:lvl8pPr marL="4876678" lvl="7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733"/>
            </a:lvl8pPr>
            <a:lvl9pPr marL="5486263" lvl="8" indent="-414856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733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64483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FDEA8-A3CC-4A76-B93F-4E251158CF21}" type="datetimeFigureOut">
              <a:rPr lang="ru-RU" smtClean="0"/>
              <a:t>27.08.2026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BB2B9-ACC4-431C-975B-CEAB7C7A0B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380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0" y="0"/>
            <a:ext cx="12545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1115035" y="1055210"/>
            <a:ext cx="10112400" cy="190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взаимодействия</a:t>
            </a:r>
            <a:r>
              <a:rPr lang="ru-RU" sz="4000" b="1" dirty="0" smtClean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сегмента распределенной сети строительной компании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1601" y="358501"/>
            <a:ext cx="1096233" cy="3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839600" y="5517367"/>
            <a:ext cx="3894000" cy="5688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1331611" y="5560952"/>
            <a:ext cx="3210400" cy="48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US" sz="1700" b="1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Network Engineer. Basic</a:t>
            </a:r>
            <a:endParaRPr sz="1700" dirty="0">
              <a:solidFill>
                <a:schemeClr val="bg1"/>
              </a:solidFill>
              <a:latin typeface="Roboto" panose="020B0604020202020204" charset="0"/>
              <a:ea typeface="Roboto" panose="020B0604020202020204" charset="0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9632" y="4111591"/>
            <a:ext cx="2064601" cy="2225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90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992167" y="2321078"/>
            <a:ext cx="10580400" cy="102177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" sz="2800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</a:rPr>
              <a:t>Меня хорошо видно</a:t>
            </a:r>
            <a:endParaRPr sz="2800" dirty="0">
              <a:solidFill>
                <a:schemeClr val="dk1"/>
              </a:solidFill>
              <a:latin typeface="Roboto" panose="020B0604020202020204" charset="0"/>
              <a:ea typeface="Roboto" panose="020B0604020202020204" charset="0"/>
            </a:endParaRPr>
          </a:p>
          <a:p>
            <a:r>
              <a:rPr lang="ru" sz="2800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</a:rPr>
              <a:t>&amp; слышно?</a:t>
            </a:r>
            <a:endParaRPr sz="2800" dirty="0">
              <a:solidFill>
                <a:schemeClr val="dk1"/>
              </a:solidFill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749" y="5121434"/>
            <a:ext cx="727616" cy="72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767" y="5187853"/>
            <a:ext cx="716349" cy="716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077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667400" y="418165"/>
            <a:ext cx="11360800" cy="245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" sz="2800" dirty="0">
                <a:latin typeface="Roboto" panose="020B0604020202020204" charset="0"/>
                <a:ea typeface="Roboto" panose="020B0604020202020204" charset="0"/>
              </a:rPr>
              <a:t>Защита проекта</a:t>
            </a:r>
            <a:endParaRPr sz="2800" dirty="0">
              <a:latin typeface="Roboto" panose="020B0604020202020204" charset="0"/>
              <a:ea typeface="Roboto" panose="020B0604020202020204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ru" sz="2800" dirty="0">
                <a:latin typeface="Roboto" panose="020B0604020202020204" charset="0"/>
                <a:ea typeface="Roboto" panose="020B0604020202020204" charset="0"/>
              </a:rPr>
              <a:t>Тема: </a:t>
            </a:r>
            <a:r>
              <a:rPr lang="ru-RU" sz="2800" dirty="0" smtClean="0">
                <a:latin typeface="Roboto" panose="020B0604020202020204" charset="0"/>
                <a:ea typeface="Roboto" panose="020B0604020202020204" charset="0"/>
              </a:rPr>
              <a:t>Организация взаимодействия сегмента сети строительной компании</a:t>
            </a:r>
            <a:endParaRPr sz="2800" dirty="0">
              <a:latin typeface="Roboto" panose="020B0604020202020204" charset="0"/>
              <a:ea typeface="Roboto" panose="020B0604020202020204" charset="0"/>
            </a:endParaRPr>
          </a:p>
          <a:p>
            <a:pPr>
              <a:buClr>
                <a:schemeClr val="dk1"/>
              </a:buClr>
              <a:buSzPts val="1100"/>
            </a:pPr>
            <a:endParaRPr dirty="0"/>
          </a:p>
          <a:p>
            <a:pPr>
              <a:buClr>
                <a:schemeClr val="dk1"/>
              </a:buClr>
              <a:buSzPts val="1100"/>
            </a:pPr>
            <a:endParaRPr dirty="0"/>
          </a:p>
          <a:p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840000" y="2780968"/>
            <a:ext cx="3133200" cy="309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5199300" y="3115201"/>
            <a:ext cx="4935600" cy="5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ru-RU" sz="3067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Яркин Алексей</a:t>
            </a:r>
            <a:endParaRPr sz="3067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5199300" y="3792433"/>
            <a:ext cx="4257600" cy="56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733" dirty="0" smtClean="0">
                <a:solidFill>
                  <a:srgbClr val="000000"/>
                </a:solidFill>
                <a:latin typeface="Roboto" panose="020B0604020202020204" charset="0"/>
                <a:ea typeface="Roboto" panose="020B0604020202020204" charset="0"/>
                <a:cs typeface="Roboto Medium"/>
                <a:sym typeface="Roboto Medium"/>
              </a:rPr>
              <a:t>Системный администратор</a:t>
            </a:r>
            <a:endParaRPr sz="1733" dirty="0">
              <a:solidFill>
                <a:srgbClr val="000000"/>
              </a:solidFill>
              <a:latin typeface="Roboto" panose="020B0604020202020204" charset="0"/>
              <a:ea typeface="Roboto" panose="020B0604020202020204" charset="0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338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718067" y="465299"/>
            <a:ext cx="11360800" cy="85557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spAutoFit/>
          </a:bodyPr>
          <a:lstStyle/>
          <a:p>
            <a:r>
              <a:rPr lang="ru" dirty="0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517500" y="1988403"/>
            <a:ext cx="4513200" cy="50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517500" y="2761989"/>
            <a:ext cx="4513200" cy="50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517500" y="3535568"/>
            <a:ext cx="4513200" cy="50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517500" y="4328300"/>
            <a:ext cx="4513200" cy="50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517500" y="2239203"/>
            <a:ext cx="800" cy="773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517500" y="3012789"/>
            <a:ext cx="800" cy="773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517500" y="3786368"/>
            <a:ext cx="800" cy="792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517500" y="4579100"/>
            <a:ext cx="800" cy="7024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517516" y="5030500"/>
            <a:ext cx="4513200" cy="50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3470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747333" y="433175"/>
            <a:ext cx="11360800" cy="1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" sz="28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28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28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28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295859583"/>
              </p:ext>
            </p:extLst>
          </p:nvPr>
        </p:nvGraphicFramePr>
        <p:xfrm>
          <a:off x="1270000" y="3176169"/>
          <a:ext cx="9652000" cy="30140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2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9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2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Организация сетевой связанности между отделами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2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Настройка</a:t>
                      </a:r>
                      <a:r>
                        <a:rPr lang="ru" sz="14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отказоустойчивости сети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4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Настройка ограничений доступа</a:t>
                      </a: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6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2171000" y="1848400"/>
            <a:ext cx="7850000" cy="88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16000" tIns="121900" rIns="216000" bIns="121900" anchor="ctr" anchorCtr="0">
            <a:noAutofit/>
          </a:bodyPr>
          <a:lstStyle/>
          <a:p>
            <a:r>
              <a:rPr lang="ru" sz="16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</a:t>
            </a:r>
            <a:r>
              <a:rPr lang="ru" sz="1600" dirty="0" smtClean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проекта: Создание сегмента распределенной сети строительной компании </a:t>
            </a:r>
            <a:endParaRPr sz="16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8766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 sz="2800" dirty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Какие технологии использовались</a:t>
            </a:r>
            <a:endParaRPr sz="2800" dirty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endParaRPr sz="4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470136902"/>
              </p:ext>
            </p:extLst>
          </p:nvPr>
        </p:nvGraphicFramePr>
        <p:xfrm>
          <a:off x="1270000" y="2530367"/>
          <a:ext cx="9652000" cy="3088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2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9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SSH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(+ Роутер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палочке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STP, 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Избыточность 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линков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(Port channel, HSRP), 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DHCP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Статическая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динамическая маршрутизация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ACL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листы</a:t>
                      </a: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1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21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lang="en-US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 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перегрузкой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),</a:t>
                      </a: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Nat(</a:t>
                      </a:r>
                      <a:r>
                        <a:rPr lang="ru-RU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порт</a:t>
                      </a:r>
                      <a:r>
                        <a:rPr lang="ru-RU" sz="1600" baseline="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порт</a:t>
                      </a: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35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Схема сети</a:t>
            </a:r>
            <a:endParaRPr lang="ru-RU" sz="2800" b="1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1889" y="1884203"/>
            <a:ext cx="11331314" cy="45552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Alt tex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89" y="1884203"/>
            <a:ext cx="11331313" cy="455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63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Roboto" panose="020B0604020202020204"/>
              </a:rPr>
              <a:t>Vlan</a:t>
            </a:r>
            <a:endParaRPr lang="ru-RU" sz="2800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800" dirty="0">
                <a:latin typeface="Roboto" panose="020B0604020202020204"/>
              </a:rPr>
              <a:t>Изоляция широковещательных запросов (и их меньший размер)</a:t>
            </a:r>
          </a:p>
          <a:p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800" dirty="0">
                <a:latin typeface="Roboto" panose="020B0604020202020204"/>
              </a:rPr>
              <a:t>Повышенный уровень безопасности</a:t>
            </a:r>
          </a:p>
          <a:p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ru-RU" sz="1800" dirty="0">
                <a:latin typeface="Roboto" panose="020B0604020202020204"/>
              </a:rPr>
              <a:t>Повышение производительности</a:t>
            </a:r>
          </a:p>
          <a:p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4. </a:t>
            </a:r>
            <a:r>
              <a:rPr lang="ru-RU" sz="1800" dirty="0">
                <a:latin typeface="Roboto" panose="020B0604020202020204"/>
              </a:rPr>
              <a:t>Разграничение доступа</a:t>
            </a:r>
            <a:endParaRPr lang="ru-RU" sz="1800" dirty="0">
              <a:latin typeface="Roboto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7815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err="1" smtClean="0">
                <a:latin typeface="Roboto" panose="020B0604020202020204"/>
              </a:rPr>
              <a:t>Vlan</a:t>
            </a:r>
            <a:r>
              <a:rPr lang="ru-RU" sz="2800" b="1" dirty="0" smtClean="0">
                <a:latin typeface="Roboto" panose="020B0604020202020204"/>
              </a:rPr>
              <a:t> -</a:t>
            </a:r>
            <a:r>
              <a:rPr lang="en-US" sz="2800" b="1" dirty="0" smtClean="0">
                <a:latin typeface="Roboto" panose="020B0604020202020204"/>
              </a:rPr>
              <a:t> </a:t>
            </a:r>
            <a:r>
              <a:rPr lang="ru-RU" sz="2800" b="1" dirty="0" smtClean="0">
                <a:latin typeface="Roboto" panose="020B0604020202020204"/>
              </a:rPr>
              <a:t>реализация</a:t>
            </a:r>
            <a:endParaRPr lang="ru-RU" sz="28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1" y="1901959"/>
            <a:ext cx="4856068" cy="3131595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ru-RU" sz="1400" dirty="0" smtClean="0"/>
          </a:p>
          <a:p>
            <a:r>
              <a:rPr lang="ru-RU" sz="1400" dirty="0">
                <a:latin typeface="Roboto" panose="020B0604020202020204"/>
              </a:rPr>
              <a:t>1. 2 типа портов (</a:t>
            </a:r>
            <a:r>
              <a:rPr lang="en-US" sz="1400" dirty="0">
                <a:latin typeface="Roboto" panose="020B0604020202020204"/>
              </a:rPr>
              <a:t>access, vlan</a:t>
            </a:r>
            <a:r>
              <a:rPr lang="ru-RU" sz="1400" dirty="0">
                <a:latin typeface="Roboto" panose="020B0604020202020204"/>
              </a:rPr>
              <a:t>)</a:t>
            </a:r>
            <a:endParaRPr lang="en-US" sz="1400" dirty="0">
              <a:latin typeface="Roboto" panose="020B0604020202020204"/>
            </a:endParaRPr>
          </a:p>
          <a:p>
            <a:r>
              <a:rPr lang="en-US" sz="1400" dirty="0">
                <a:latin typeface="Roboto" panose="020B0604020202020204"/>
              </a:rPr>
              <a:t>2</a:t>
            </a:r>
            <a:r>
              <a:rPr lang="ru-RU" sz="1400" dirty="0">
                <a:latin typeface="Roboto" panose="020B0604020202020204"/>
              </a:rPr>
              <a:t>. </a:t>
            </a:r>
            <a:r>
              <a:rPr lang="en-US" sz="1400" dirty="0">
                <a:latin typeface="Roboto" panose="020B0604020202020204"/>
              </a:rPr>
              <a:t>PortFast </a:t>
            </a:r>
            <a:r>
              <a:rPr lang="ru-RU" sz="1400" dirty="0">
                <a:latin typeface="Roboto" panose="020B0604020202020204"/>
              </a:rPr>
              <a:t>и </a:t>
            </a:r>
            <a:r>
              <a:rPr lang="en-US" sz="1400" dirty="0">
                <a:latin typeface="Roboto" panose="020B0604020202020204"/>
              </a:rPr>
              <a:t>Bpduguard </a:t>
            </a:r>
            <a:r>
              <a:rPr lang="ru-RU" sz="1400" dirty="0">
                <a:latin typeface="Roboto" panose="020B0604020202020204"/>
              </a:rPr>
              <a:t>в сторону конечных устройств </a:t>
            </a:r>
          </a:p>
          <a:p>
            <a:r>
              <a:rPr lang="ru-RU" sz="1400" dirty="0">
                <a:latin typeface="Roboto" panose="020B0604020202020204"/>
              </a:rPr>
              <a:t>3. </a:t>
            </a:r>
            <a:r>
              <a:rPr lang="en-US" sz="1400" dirty="0">
                <a:latin typeface="Roboto" panose="020B0604020202020204"/>
              </a:rPr>
              <a:t>Native vlan </a:t>
            </a:r>
            <a:r>
              <a:rPr lang="ru-RU" sz="1400" dirty="0">
                <a:latin typeface="Roboto" panose="020B0604020202020204"/>
              </a:rPr>
              <a:t>изменен на 1000 (+ </a:t>
            </a:r>
            <a:r>
              <a:rPr lang="en-US" sz="1400" dirty="0">
                <a:latin typeface="Roboto" panose="020B0604020202020204"/>
              </a:rPr>
              <a:t>vlan 999 </a:t>
            </a:r>
            <a:r>
              <a:rPr lang="ru-RU" sz="1400" dirty="0">
                <a:latin typeface="Roboto" panose="020B0604020202020204"/>
              </a:rPr>
              <a:t>для выключенных портов)</a:t>
            </a:r>
            <a:endParaRPr lang="en-US" sz="1400" dirty="0">
              <a:latin typeface="Roboto" panose="020B0604020202020204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65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err="1">
                <a:latin typeface="Roboto" panose="020B0604020202020204"/>
              </a:rPr>
              <a:t>Vlan</a:t>
            </a:r>
            <a:r>
              <a:rPr lang="ru-RU" sz="2800" dirty="0">
                <a:latin typeface="Roboto" panose="020B0604020202020204"/>
              </a:rPr>
              <a:t> </a:t>
            </a:r>
            <a:r>
              <a:rPr lang="ru-RU" sz="2800" dirty="0" smtClean="0">
                <a:latin typeface="Roboto" panose="020B0604020202020204"/>
              </a:rPr>
              <a:t>–</a:t>
            </a:r>
            <a:r>
              <a:rPr lang="en-US" sz="2800" dirty="0" smtClean="0">
                <a:latin typeface="Roboto" panose="020B0604020202020204"/>
              </a:rPr>
              <a:t> </a:t>
            </a:r>
            <a:r>
              <a:rPr lang="ru-RU" sz="2800" dirty="0" smtClean="0">
                <a:latin typeface="Roboto" panose="020B0604020202020204"/>
              </a:rPr>
              <a:t>реализация «</a:t>
            </a:r>
            <a:r>
              <a:rPr lang="ru-RU" sz="2800" b="1" dirty="0" smtClean="0">
                <a:latin typeface="Roboto" panose="020B0604020202020204"/>
              </a:rPr>
              <a:t>Роутер на палочке</a:t>
            </a:r>
            <a:r>
              <a:rPr lang="ru-RU" sz="2800" dirty="0" smtClean="0">
                <a:latin typeface="Roboto" panose="020B0604020202020204"/>
              </a:rPr>
              <a:t>»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Реализация взаимодействия сетей между собой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err="1" smtClean="0">
                <a:latin typeface="Roboto" panose="020B0604020202020204"/>
                <a:ea typeface="+mj-ea"/>
                <a:cs typeface="+mj-cs"/>
              </a:rPr>
              <a:t>Энкапсуляция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 (номер </a:t>
            </a:r>
            <a:r>
              <a:rPr lang="en-US" sz="1400" dirty="0" err="1" smtClean="0">
                <a:latin typeface="Roboto" panose="020B0604020202020204"/>
                <a:ea typeface="+mj-ea"/>
                <a:cs typeface="+mj-cs"/>
              </a:rPr>
              <a:t>vlan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)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Native </a:t>
            </a:r>
            <a:r>
              <a:rPr lang="en-US" sz="1400" dirty="0" err="1" smtClean="0">
                <a:latin typeface="Roboto" panose="020B0604020202020204"/>
                <a:ea typeface="+mj-ea"/>
                <a:cs typeface="+mj-cs"/>
              </a:rPr>
              <a:t>vlan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1000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0" y="1901959"/>
            <a:ext cx="5660979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0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Roboto" panose="020B0604020202020204"/>
              </a:rPr>
              <a:t>STP</a:t>
            </a:r>
            <a:r>
              <a:rPr lang="ru-RU" sz="2800" b="1" dirty="0" smtClean="0">
                <a:latin typeface="Roboto" panose="020B0604020202020204"/>
              </a:rPr>
              <a:t> </a:t>
            </a:r>
            <a:r>
              <a:rPr lang="ru-RU" sz="2800" dirty="0" smtClean="0">
                <a:latin typeface="Roboto" panose="020B0604020202020204"/>
              </a:rPr>
              <a:t>– протокол связующего дерева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>
                <a:latin typeface="Roboto" panose="020B0604020202020204"/>
                <a:ea typeface="+mj-ea"/>
                <a:cs typeface="+mj-cs"/>
              </a:rPr>
              <a:t>Защита от петель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>
                <a:latin typeface="Roboto" panose="020B0604020202020204"/>
                <a:ea typeface="+mj-ea"/>
                <a:cs typeface="+mj-cs"/>
              </a:rPr>
              <a:t>Резервирование путей (каналов) между устройствами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Отказоустойчивость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806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Roboto" panose="020B0604020202020204"/>
              </a:rPr>
              <a:t>STP</a:t>
            </a:r>
            <a:r>
              <a:rPr lang="ru-RU" sz="2800" dirty="0" smtClean="0">
                <a:latin typeface="Roboto" panose="020B0604020202020204"/>
              </a:rPr>
              <a:t> реализация</a:t>
            </a: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71" y="1901959"/>
            <a:ext cx="5947956" cy="4555200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1. 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AS –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коммутатор – корень для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Vlan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11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.</a:t>
            </a: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2.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MS –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правый коммутатор в сегменте (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root vlan12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)</a:t>
            </a:r>
            <a:endParaRPr lang="en-US" sz="1400" dirty="0" smtClean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en-US" sz="1400" dirty="0" smtClean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3.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Используется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Rstp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–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 из соображений скорости</a:t>
            </a:r>
            <a:endParaRPr lang="en-US" sz="1400" dirty="0" smtClean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en-US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4.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Приоритете выставлен с помощью: </a:t>
            </a: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ru-RU" sz="1400" dirty="0"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r>
              <a:rPr lang="nl-NL" sz="1400" b="1" dirty="0" smtClean="0">
                <a:latin typeface="Roboto" panose="020B0604020202020204"/>
              </a:rPr>
              <a:t>spanning-tree </a:t>
            </a:r>
            <a:r>
              <a:rPr lang="nl-NL" sz="1400" b="1" i="1" dirty="0">
                <a:latin typeface="Roboto" panose="020B0604020202020204"/>
              </a:rPr>
              <a:t>vlan </a:t>
            </a:r>
            <a:r>
              <a:rPr lang="ru-RU" sz="1400" b="1" i="1" dirty="0"/>
              <a:t>№</a:t>
            </a:r>
            <a:r>
              <a:rPr lang="nl-NL" sz="1400" b="1" dirty="0" smtClean="0">
                <a:latin typeface="Roboto" panose="020B0604020202020204"/>
              </a:rPr>
              <a:t> </a:t>
            </a:r>
            <a:r>
              <a:rPr lang="nl-NL" sz="1400" b="1" dirty="0">
                <a:latin typeface="Roboto" panose="020B0604020202020204"/>
              </a:rPr>
              <a:t>root primary</a:t>
            </a: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en-US" sz="1400" dirty="0" smtClean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90000"/>
              </a:lnSpc>
              <a:spcBef>
                <a:spcPts val="0"/>
              </a:spcBef>
              <a:buSzPts val="3100"/>
              <a:buNone/>
            </a:pPr>
            <a:endParaRPr lang="ru-RU" sz="1400" dirty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953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 smtClean="0">
                <a:latin typeface="Roboto" panose="020B0604020202020204"/>
              </a:rPr>
              <a:t>Избыточность </a:t>
            </a:r>
            <a:r>
              <a:rPr lang="ru-RU" sz="2800" b="1" dirty="0" smtClean="0">
                <a:latin typeface="Roboto" panose="020B0604020202020204"/>
              </a:rPr>
              <a:t>линков</a:t>
            </a:r>
            <a:r>
              <a:rPr lang="en-US" sz="2800" b="1" dirty="0" smtClean="0">
                <a:latin typeface="Roboto" panose="020B0604020202020204"/>
              </a:rPr>
              <a:t> </a:t>
            </a:r>
            <a:endParaRPr lang="ru-RU" sz="2800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Отказоустойчивость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Увеличение пропускной способности (в случае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PortChannel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)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Распределение нагрузки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(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в частности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HSRP)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777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 smtClean="0">
                <a:latin typeface="Roboto" panose="020B0604020202020204"/>
              </a:rPr>
              <a:t>Избыточность </a:t>
            </a:r>
            <a:r>
              <a:rPr lang="ru-RU" sz="2800" b="1" dirty="0" smtClean="0">
                <a:latin typeface="Roboto" panose="020B0604020202020204"/>
              </a:rPr>
              <a:t>линков</a:t>
            </a:r>
            <a:r>
              <a:rPr lang="ru-RU" sz="2800" b="1" dirty="0" smtClean="0">
                <a:latin typeface="Roboto" panose="020B0604020202020204"/>
              </a:rPr>
              <a:t> </a:t>
            </a:r>
            <a:r>
              <a:rPr lang="ru-RU" sz="2800" dirty="0" smtClean="0">
                <a:latin typeface="Roboto" panose="020B0604020202020204"/>
              </a:rPr>
              <a:t>– реализация </a:t>
            </a:r>
            <a:r>
              <a:rPr lang="en-US" sz="2800" b="1" dirty="0" smtClean="0">
                <a:latin typeface="Roboto" panose="020B0604020202020204"/>
              </a:rPr>
              <a:t>PortChannel</a:t>
            </a:r>
            <a:r>
              <a:rPr lang="en-US" sz="2800" dirty="0" smtClean="0">
                <a:latin typeface="Roboto" panose="020B0604020202020204"/>
              </a:rPr>
              <a:t> 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LACP –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из-за универсальности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C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обеих сторон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active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Порты одинаковые 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394" y="1901959"/>
            <a:ext cx="6254659" cy="42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8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 smtClean="0">
                <a:latin typeface="Roboto" panose="020B0604020202020204"/>
              </a:rPr>
              <a:t>Избыточность </a:t>
            </a:r>
            <a:r>
              <a:rPr lang="ru-RU" sz="2800" b="1" dirty="0" smtClean="0">
                <a:latin typeface="Roboto" panose="020B0604020202020204"/>
              </a:rPr>
              <a:t>линков</a:t>
            </a:r>
            <a:r>
              <a:rPr lang="ru-RU" sz="2800" b="1" dirty="0" smtClean="0">
                <a:latin typeface="Roboto" panose="020B0604020202020204"/>
              </a:rPr>
              <a:t> </a:t>
            </a:r>
            <a:r>
              <a:rPr lang="ru-RU" sz="2800" dirty="0" smtClean="0">
                <a:latin typeface="Roboto" panose="020B0604020202020204"/>
              </a:rPr>
              <a:t>– реализация </a:t>
            </a:r>
            <a:r>
              <a:rPr lang="en-US" sz="2800" b="1" dirty="0" smtClean="0">
                <a:latin typeface="Roboto" panose="020B0604020202020204"/>
              </a:rPr>
              <a:t>HSRP</a:t>
            </a:r>
            <a:endParaRPr lang="ru-RU" sz="2800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Version2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как более стабильная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vlan</a:t>
            </a:r>
            <a:r>
              <a:rPr lang="ru-RU" sz="1400" dirty="0" smtClean="0">
                <a:latin typeface="Roboto" panose="020B0604020202020204"/>
              </a:rPr>
              <a:t>11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приоритет левый маршрутизатор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en-US" sz="1400" dirty="0" smtClean="0">
                <a:latin typeface="Roboto" panose="020B0604020202020204"/>
              </a:rPr>
              <a:t>vlan</a:t>
            </a:r>
            <a:r>
              <a:rPr lang="ru-RU" sz="1400" dirty="0" smtClean="0">
                <a:latin typeface="Roboto" panose="020B0604020202020204"/>
              </a:rPr>
              <a:t>12</a:t>
            </a:r>
            <a:r>
              <a:rPr lang="en-US" sz="1400" dirty="0" smtClean="0">
                <a:latin typeface="Roboto" panose="020B0604020202020204"/>
              </a:rPr>
              <a:t> </a:t>
            </a:r>
            <a:r>
              <a:rPr lang="ru-RU" sz="1400" dirty="0">
                <a:latin typeface="Roboto" panose="020B0604020202020204"/>
              </a:rPr>
              <a:t>приоритет </a:t>
            </a:r>
            <a:r>
              <a:rPr lang="ru-RU" sz="1400" dirty="0" smtClean="0">
                <a:latin typeface="Roboto" panose="020B0604020202020204"/>
              </a:rPr>
              <a:t>правый </a:t>
            </a:r>
            <a:r>
              <a:rPr lang="ru-RU" sz="1400" dirty="0">
                <a:latin typeface="Roboto" panose="020B0604020202020204"/>
              </a:rPr>
              <a:t>маршрутизатор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594" y="1901959"/>
            <a:ext cx="6546805" cy="428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9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Roboto" panose="020B0604020202020204"/>
              </a:rPr>
              <a:t>DHCP</a:t>
            </a:r>
            <a:r>
              <a:rPr lang="en-US" sz="2800" dirty="0" smtClean="0">
                <a:latin typeface="Roboto" panose="020B0604020202020204"/>
              </a:rPr>
              <a:t> – </a:t>
            </a:r>
            <a:r>
              <a:rPr lang="ru-RU" sz="2800" dirty="0" smtClean="0">
                <a:latin typeface="Roboto" panose="020B0604020202020204"/>
              </a:rPr>
              <a:t>протокол динамической конфигурации узла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Автоматическая настройка параметров конфигурации сети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>
                <a:latin typeface="Roboto" panose="020B0604020202020204"/>
              </a:rPr>
              <a:t>Автоматическая настройка </a:t>
            </a:r>
            <a:r>
              <a:rPr lang="en-US" sz="1400" dirty="0" smtClean="0">
                <a:latin typeface="Roboto" panose="020B0604020202020204"/>
              </a:rPr>
              <a:t>ip</a:t>
            </a:r>
            <a:r>
              <a:rPr lang="en-US" sz="1400" dirty="0" smtClean="0">
                <a:latin typeface="Roboto" panose="020B0604020202020204"/>
              </a:rPr>
              <a:t> </a:t>
            </a:r>
            <a:r>
              <a:rPr lang="ru-RU" sz="1400" dirty="0" smtClean="0">
                <a:latin typeface="Roboto" panose="020B0604020202020204"/>
              </a:rPr>
              <a:t>адресации для клиентов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Резервирование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ip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адресов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771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Roboto" panose="020B0604020202020204"/>
              </a:rPr>
              <a:t>DHCP</a:t>
            </a:r>
            <a:r>
              <a:rPr lang="en-US" sz="2800" dirty="0" smtClean="0">
                <a:latin typeface="Roboto" panose="020B0604020202020204"/>
              </a:rPr>
              <a:t> – </a:t>
            </a:r>
            <a:r>
              <a:rPr lang="ru-RU" sz="2800" dirty="0" smtClean="0">
                <a:latin typeface="Roboto" panose="020B0604020202020204"/>
              </a:rPr>
              <a:t>реализация</a:t>
            </a:r>
            <a:endParaRPr lang="ru-RU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Области на разных маршрутизаторах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Резервирование(</a:t>
            </a:r>
            <a:r>
              <a:rPr lang="en-US" sz="1400" dirty="0" smtClean="0">
                <a:latin typeface="Roboto" panose="020B0604020202020204"/>
              </a:rPr>
              <a:t>ip</a:t>
            </a:r>
            <a:r>
              <a:rPr lang="ru-RU" sz="1400" dirty="0" smtClean="0">
                <a:latin typeface="Roboto" panose="020B0604020202020204"/>
              </a:rPr>
              <a:t>) на каждом</a:t>
            </a:r>
            <a:r>
              <a:rPr lang="en-US" sz="1400" dirty="0">
                <a:latin typeface="Roboto" panose="020B0604020202020204"/>
              </a:rPr>
              <a:t>,</a:t>
            </a:r>
            <a:r>
              <a:rPr lang="ru-RU" sz="1400" dirty="0" smtClean="0">
                <a:latin typeface="Roboto" panose="020B0604020202020204"/>
              </a:rPr>
              <a:t> на случай 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</a:rPr>
              <a:t>выхода из строя одного и необходимости 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</a:rPr>
              <a:t>настройки области с нерабочего устройства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006" y="1901959"/>
            <a:ext cx="6702062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0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latin typeface="Roboto" panose="020B0604020202020204"/>
              </a:rPr>
              <a:t>Маршрутизация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Статическая маршрутизация для «задания пути вручную»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Динамическая маршрутизация – </a:t>
            </a:r>
            <a:r>
              <a:rPr lang="ru-RU" sz="1400" dirty="0">
                <a:latin typeface="Roboto" panose="020B0604020202020204"/>
              </a:rPr>
              <a:t>авто</a:t>
            </a:r>
            <a:r>
              <a:rPr lang="ru-RU" sz="1400" dirty="0" smtClean="0">
                <a:latin typeface="Roboto" panose="020B0604020202020204"/>
              </a:rPr>
              <a:t> распространение маршрутов с маршрутизаторов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Маршрутизация – определение пути для передачи трафика на 3 уровне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916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latin typeface="Roboto" panose="020B0604020202020204"/>
              </a:rPr>
              <a:t>Маршрутизация - реализация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Маршрут по умолчанию на следующий роутер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Область 56 (с уникальным </a:t>
            </a:r>
            <a:r>
              <a:rPr lang="en-US" sz="1400" dirty="0" smtClean="0">
                <a:latin typeface="Roboto" panose="020B0604020202020204"/>
              </a:rPr>
              <a:t>router-id</a:t>
            </a:r>
            <a:r>
              <a:rPr lang="ru-RU" sz="1400" dirty="0" smtClean="0">
                <a:latin typeface="Roboto" panose="020B0604020202020204"/>
              </a:rPr>
              <a:t>)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Порт (с «</a:t>
            </a:r>
            <a:r>
              <a:rPr lang="en-US" sz="1400" dirty="0" err="1" smtClean="0">
                <a:latin typeface="Roboto" panose="020B0604020202020204"/>
                <a:ea typeface="+mj-ea"/>
                <a:cs typeface="+mj-cs"/>
              </a:rPr>
              <a:t>ip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 сетью») добавленный в 56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ospf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 зону 0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21" y="3100252"/>
            <a:ext cx="4476750" cy="3268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792" y="2109739"/>
            <a:ext cx="57340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6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Roboto" panose="020B0604020202020204"/>
              </a:rPr>
              <a:t>ACL – </a:t>
            </a:r>
            <a:r>
              <a:rPr lang="ru-RU" sz="2800" b="1" dirty="0">
                <a:latin typeface="Roboto" panose="020B0604020202020204"/>
              </a:rPr>
              <a:t>листы контроля доступа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Разграничение доступа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Безопасность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Фильтрация трафика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4</a:t>
            </a: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err="1" smtClean="0">
                <a:latin typeface="Roboto" panose="020B0604020202020204"/>
                <a:ea typeface="+mj-ea"/>
                <a:cs typeface="+mj-cs"/>
              </a:rPr>
              <a:t>Приоритизация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 трафика ( + ограничение трафика)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72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Roboto" panose="020B0604020202020204"/>
              </a:rPr>
              <a:t>ACL – </a:t>
            </a:r>
            <a:r>
              <a:rPr lang="ru-RU" sz="2800" b="1" dirty="0">
                <a:latin typeface="Roboto" panose="020B0604020202020204"/>
              </a:rPr>
              <a:t>реализация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Стандартный лист создан для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NAT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Расширенный лист запрет на </a:t>
            </a:r>
            <a:r>
              <a:rPr lang="en-US" sz="1400" dirty="0" smtClean="0">
                <a:latin typeface="Roboto" panose="020B0604020202020204"/>
              </a:rPr>
              <a:t>80 </a:t>
            </a:r>
            <a:r>
              <a:rPr lang="ru-RU" sz="1400" dirty="0" smtClean="0">
                <a:latin typeface="Roboto" panose="020B0604020202020204"/>
              </a:rPr>
              <a:t>порт для </a:t>
            </a:r>
            <a:r>
              <a:rPr lang="en-US" sz="1400" dirty="0" smtClean="0">
                <a:latin typeface="Roboto" panose="020B0604020202020204"/>
              </a:rPr>
              <a:t>10.0.2.2</a:t>
            </a:r>
            <a:endParaRPr lang="ru-RU" sz="1400" dirty="0" smtClean="0">
              <a:latin typeface="Roboto" panose="020B0604020202020204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>
                <a:latin typeface="Roboto" panose="020B0604020202020204"/>
              </a:rPr>
              <a:t>Расширенный лист </a:t>
            </a:r>
            <a:r>
              <a:rPr lang="ru-RU" sz="1400" dirty="0" smtClean="0">
                <a:latin typeface="Roboto" panose="020B0604020202020204"/>
              </a:rPr>
              <a:t>разрешено </a:t>
            </a:r>
            <a:r>
              <a:rPr lang="ru-RU" sz="1400" dirty="0">
                <a:latin typeface="Roboto" panose="020B0604020202020204"/>
              </a:rPr>
              <a:t>на </a:t>
            </a:r>
            <a:r>
              <a:rPr lang="en-US" sz="1400" dirty="0" smtClean="0">
                <a:latin typeface="Roboto" panose="020B0604020202020204"/>
              </a:rPr>
              <a:t>80</a:t>
            </a:r>
            <a:r>
              <a:rPr lang="ru-RU" sz="1400" dirty="0" smtClean="0">
                <a:latin typeface="Roboto" panose="020B0604020202020204"/>
              </a:rPr>
              <a:t> и 8080</a:t>
            </a:r>
            <a:r>
              <a:rPr lang="en-US" sz="1400" dirty="0" smtClean="0">
                <a:latin typeface="Roboto" panose="020B0604020202020204"/>
              </a:rPr>
              <a:t> </a:t>
            </a:r>
            <a:r>
              <a:rPr lang="ru-RU" sz="1400" dirty="0" smtClean="0">
                <a:latin typeface="Roboto" panose="020B0604020202020204"/>
              </a:rPr>
              <a:t>порты </a:t>
            </a:r>
            <a:r>
              <a:rPr lang="ru-RU" sz="1400" dirty="0">
                <a:latin typeface="Roboto" panose="020B0604020202020204"/>
              </a:rPr>
              <a:t>для </a:t>
            </a:r>
            <a:r>
              <a:rPr lang="ru-RU" sz="1400" dirty="0" smtClean="0">
                <a:latin typeface="Roboto" panose="020B0604020202020204"/>
              </a:rPr>
              <a:t>остальных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en-US" sz="1400" dirty="0" smtClean="0">
                <a:latin typeface="Roboto" panose="020B0604020202020204"/>
              </a:rPr>
              <a:t>10.0.</a:t>
            </a:r>
            <a:r>
              <a:rPr lang="ru-RU" sz="1400" dirty="0" smtClean="0">
                <a:latin typeface="Roboto" panose="020B0604020202020204"/>
              </a:rPr>
              <a:t>0</a:t>
            </a:r>
            <a:r>
              <a:rPr lang="en-US" sz="1400" dirty="0" smtClean="0">
                <a:latin typeface="Roboto" panose="020B0604020202020204"/>
              </a:rPr>
              <a:t>.</a:t>
            </a:r>
            <a:r>
              <a:rPr lang="ru-RU" sz="1400" dirty="0" smtClean="0">
                <a:latin typeface="Roboto" panose="020B0604020202020204"/>
              </a:rPr>
              <a:t>0</a:t>
            </a:r>
            <a:endParaRPr lang="ru-RU" sz="1400" dirty="0">
              <a:latin typeface="Roboto" panose="020B0604020202020204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4. </a:t>
            </a:r>
            <a:r>
              <a:rPr lang="ru-RU" sz="1400" dirty="0">
                <a:latin typeface="Roboto" panose="020B0604020202020204"/>
              </a:rPr>
              <a:t>Расширенный лист разрешен </a:t>
            </a:r>
            <a:r>
              <a:rPr lang="en-US" sz="1400" dirty="0">
                <a:latin typeface="Roboto" panose="020B0604020202020204"/>
              </a:rPr>
              <a:t>OSPF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2" y="1975995"/>
            <a:ext cx="4685619" cy="44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5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Roboto" panose="020B0604020202020204"/>
              </a:rPr>
              <a:t>NAT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Экономия публичных адресов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Преобразование </a:t>
            </a:r>
            <a:r>
              <a:rPr lang="en-US" sz="1400" dirty="0" err="1" smtClean="0">
                <a:latin typeface="Roboto" panose="020B0604020202020204"/>
              </a:rPr>
              <a:t>ip</a:t>
            </a:r>
            <a:r>
              <a:rPr lang="en-US" sz="1400" dirty="0" smtClean="0">
                <a:latin typeface="Roboto" panose="020B0604020202020204"/>
              </a:rPr>
              <a:t> </a:t>
            </a:r>
            <a:r>
              <a:rPr lang="ru-RU" sz="1400" dirty="0" smtClean="0">
                <a:latin typeface="Roboto" panose="020B0604020202020204"/>
              </a:rPr>
              <a:t>адресов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Безопасность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590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Roboto" panose="020B0604020202020204"/>
              </a:rPr>
              <a:t>NAT</a:t>
            </a:r>
            <a:r>
              <a:rPr lang="ru-RU" sz="2800" b="1" dirty="0">
                <a:latin typeface="Roboto" panose="020B0604020202020204"/>
              </a:rPr>
              <a:t> – реализация</a:t>
            </a:r>
            <a:r>
              <a:rPr lang="en-US" sz="2800" b="1" dirty="0">
                <a:latin typeface="Roboto" panose="020B0604020202020204"/>
              </a:rPr>
              <a:t> </a:t>
            </a:r>
            <a:r>
              <a:rPr lang="ru-RU" sz="2800" b="1" dirty="0">
                <a:latin typeface="Roboto" panose="020B0604020202020204"/>
              </a:rPr>
              <a:t>«</a:t>
            </a:r>
            <a:r>
              <a:rPr lang="en-US" sz="2800" b="1" dirty="0">
                <a:latin typeface="Roboto" panose="020B0604020202020204"/>
              </a:rPr>
              <a:t>c </a:t>
            </a:r>
            <a:r>
              <a:rPr lang="ru-RU" sz="2800" b="1" dirty="0">
                <a:latin typeface="Roboto" panose="020B0604020202020204"/>
              </a:rPr>
              <a:t>перегрузкой»</a:t>
            </a:r>
            <a:r>
              <a:rPr lang="en-US" sz="2800" b="1" dirty="0">
                <a:latin typeface="Roboto" panose="020B0604020202020204"/>
              </a:rPr>
              <a:t> - PAT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Создан лист 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1 c </a:t>
            </a:r>
            <a:r>
              <a:rPr lang="en-US" sz="1400" dirty="0" err="1" smtClean="0">
                <a:latin typeface="Roboto" panose="020B0604020202020204"/>
                <a:ea typeface="+mj-ea"/>
                <a:cs typeface="+mj-cs"/>
              </a:rPr>
              <a:t>ip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которые будут преобразовываться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 smtClean="0">
                <a:latin typeface="Roboto" panose="020B0604020202020204"/>
              </a:rPr>
              <a:t>Заданы интерфейсы входящие и исходящий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Задан интерфейс в </a:t>
            </a:r>
            <a:r>
              <a:rPr lang="en-US" sz="1400" dirty="0" err="1" smtClean="0">
                <a:latin typeface="Roboto" panose="020B0604020202020204"/>
                <a:ea typeface="+mj-ea"/>
                <a:cs typeface="+mj-cs"/>
              </a:rPr>
              <a:t>ip</a:t>
            </a:r>
            <a:r>
              <a:rPr lang="en-US" sz="1400" dirty="0" smtClean="0">
                <a:latin typeface="Roboto" panose="020B0604020202020204"/>
                <a:ea typeface="+mj-ea"/>
                <a:cs typeface="+mj-cs"/>
              </a:rPr>
              <a:t>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которого будет происходить 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преобразование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725" y="1717247"/>
            <a:ext cx="4882862" cy="473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5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Roboto" panose="020B0604020202020204"/>
              </a:rPr>
              <a:t>NAT – </a:t>
            </a:r>
            <a:r>
              <a:rPr lang="ru-RU" sz="2800" b="1" dirty="0">
                <a:latin typeface="Roboto" panose="020B0604020202020204"/>
              </a:rPr>
              <a:t>реализация «статический в порт»</a:t>
            </a:r>
            <a:endParaRPr lang="ru-RU" sz="2800" b="1" dirty="0">
              <a:latin typeface="Roboto" panose="020B0604020202020204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1.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При подключении к 176.0.4.2 на 80 порт </a:t>
            </a:r>
          </a:p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Пересылать на 10.5.0.2 80 порт</a:t>
            </a:r>
            <a:endParaRPr lang="ru-RU" sz="1400" dirty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2. </a:t>
            </a:r>
            <a:r>
              <a:rPr lang="ru-RU" sz="1400" dirty="0">
                <a:latin typeface="Roboto" panose="020B0604020202020204"/>
              </a:rPr>
              <a:t>При подключении к 176.0.4.2 на </a:t>
            </a:r>
            <a:r>
              <a:rPr lang="ru-RU" sz="1400" dirty="0" smtClean="0">
                <a:latin typeface="Roboto" panose="020B0604020202020204"/>
              </a:rPr>
              <a:t>8080 </a:t>
            </a:r>
            <a:r>
              <a:rPr lang="ru-RU" sz="1400" dirty="0">
                <a:latin typeface="Roboto" panose="020B0604020202020204"/>
              </a:rPr>
              <a:t>порт </a:t>
            </a:r>
          </a:p>
          <a:p>
            <a:pPr marL="177796" indent="0">
              <a:lnSpc>
                <a:spcPct val="113000"/>
              </a:lnSpc>
              <a:spcBef>
                <a:spcPts val="0"/>
              </a:spcBef>
              <a:buSzPts val="3100"/>
              <a:buNone/>
            </a:pPr>
            <a:r>
              <a:rPr lang="ru-RU" sz="1400" dirty="0">
                <a:latin typeface="Roboto" panose="020B0604020202020204"/>
              </a:rPr>
              <a:t>Пересылать на </a:t>
            </a:r>
            <a:r>
              <a:rPr lang="ru-RU" sz="1400" dirty="0" smtClean="0">
                <a:latin typeface="Roboto" panose="020B0604020202020204"/>
              </a:rPr>
              <a:t>10.5.0.3 443 </a:t>
            </a:r>
            <a:r>
              <a:rPr lang="ru-RU" sz="1400" dirty="0">
                <a:latin typeface="Roboto" panose="020B0604020202020204"/>
              </a:rPr>
              <a:t>порт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r>
              <a:rPr lang="ru-RU" sz="2100" b="1" dirty="0" smtClean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3</a:t>
            </a:r>
            <a:r>
              <a:rPr lang="ru-RU" sz="2100" b="1" dirty="0">
                <a:solidFill>
                  <a:srgbClr val="3F299A"/>
                </a:solidFill>
                <a:latin typeface="Roboto"/>
                <a:ea typeface="Roboto"/>
                <a:cs typeface="Roboto"/>
              </a:rPr>
              <a:t>. </a:t>
            </a:r>
            <a:r>
              <a:rPr lang="ru-RU" sz="1400" dirty="0" smtClean="0">
                <a:latin typeface="Roboto" panose="020B0604020202020204"/>
                <a:ea typeface="+mj-ea"/>
                <a:cs typeface="+mj-cs"/>
              </a:rPr>
              <a:t>Задан входящий порт и исходящий порт</a:t>
            </a: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  <a:p>
            <a:pPr marL="177796" indent="0">
              <a:lnSpc>
                <a:spcPct val="114000"/>
              </a:lnSpc>
              <a:spcBef>
                <a:spcPts val="0"/>
              </a:spcBef>
              <a:buSzPts val="3100"/>
              <a:buNone/>
            </a:pPr>
            <a:endParaRPr lang="ru-RU" sz="1400" dirty="0" smtClean="0">
              <a:latin typeface="Roboto" panose="020B0604020202020204"/>
              <a:ea typeface="+mj-ea"/>
              <a:cs typeface="+mj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12" y="1969862"/>
            <a:ext cx="6353175" cy="412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4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667400" y="440965"/>
            <a:ext cx="11360800" cy="146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 sz="2800" b="1" dirty="0">
                <a:latin typeface="Roboto" panose="020B0604020202020204"/>
              </a:rPr>
              <a:t>Выводы</a:t>
            </a:r>
            <a:endParaRPr sz="2800" b="1" dirty="0">
              <a:latin typeface="Roboto" panose="020B0604020202020204"/>
            </a:endParaRPr>
          </a:p>
          <a:p>
            <a:endParaRPr sz="4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486970824"/>
              </p:ext>
            </p:extLst>
          </p:nvPr>
        </p:nvGraphicFramePr>
        <p:xfrm>
          <a:off x="1270000" y="2291200"/>
          <a:ext cx="9652000" cy="24707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2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9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Roboto" panose="020B0604020202020204"/>
                          <a:ea typeface="+mj-ea"/>
                          <a:cs typeface="+mj-cs"/>
                          <a:sym typeface="Roboto"/>
                        </a:rPr>
                        <a:t>Организована сеть с межсетевым </a:t>
                      </a:r>
                      <a:r>
                        <a:rPr lang="ru-RU" sz="1400" kern="1200" dirty="0" err="1" smtClean="0">
                          <a:solidFill>
                            <a:schemeClr val="tx1"/>
                          </a:solidFill>
                          <a:latin typeface="Roboto" panose="020B0604020202020204"/>
                          <a:ea typeface="+mj-ea"/>
                          <a:cs typeface="+mj-cs"/>
                          <a:sym typeface="Roboto"/>
                        </a:rPr>
                        <a:t>взаимоджействием</a:t>
                      </a:r>
                      <a:endParaRPr sz="1400" kern="1200" dirty="0">
                        <a:solidFill>
                          <a:schemeClr val="tx1"/>
                        </a:solidFill>
                        <a:latin typeface="Roboto" panose="020B0604020202020204"/>
                        <a:ea typeface="+mj-ea"/>
                        <a:cs typeface="+mj-cs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kern="12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kern="1200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Roboto" panose="020B0604020202020204"/>
                          <a:ea typeface="+mj-ea"/>
                          <a:cs typeface="+mj-cs"/>
                          <a:sym typeface="Roboto"/>
                        </a:rPr>
                        <a:t>Настроена отказоустойчивость</a:t>
                      </a:r>
                      <a:endParaRPr sz="1400" kern="1200" dirty="0">
                        <a:solidFill>
                          <a:schemeClr val="tx1"/>
                        </a:solidFill>
                        <a:latin typeface="Roboto" panose="020B0604020202020204"/>
                        <a:ea typeface="+mj-ea"/>
                        <a:cs typeface="+mj-cs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kern="120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kern="1200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Roboto" panose="020B0604020202020204"/>
                          <a:ea typeface="+mj-ea"/>
                          <a:cs typeface="+mj-cs"/>
                          <a:sym typeface="Roboto"/>
                        </a:rPr>
                        <a:t>Настроены разграничения доступа</a:t>
                      </a:r>
                      <a:endParaRPr sz="1400" kern="1200" dirty="0">
                        <a:solidFill>
                          <a:schemeClr val="tx1"/>
                        </a:solidFill>
                        <a:latin typeface="Roboto" panose="020B0604020202020204"/>
                        <a:ea typeface="+mj-ea"/>
                        <a:cs typeface="+mj-cs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/>
                    </a:p>
                  </a:txBody>
                  <a:tcPr marL="264000" marR="121900" marT="121900" marB="12190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264000" marR="121900" marT="121900" marB="1219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9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653</Words>
  <Application>Microsoft Office PowerPoint</Application>
  <PresentationFormat>Широкоэкранный</PresentationFormat>
  <Paragraphs>130</Paragraphs>
  <Slides>25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Roboto</vt:lpstr>
      <vt:lpstr>Roboto Medium</vt:lpstr>
      <vt:lpstr>Тема Office</vt:lpstr>
      <vt:lpstr>Презентация PowerPoint</vt:lpstr>
      <vt:lpstr>Меня хорошо видно &amp; слышно?</vt:lpstr>
      <vt:lpstr>Защита проекта Тема: Организация взаимодействия сегмента сети строительной компании   </vt:lpstr>
      <vt:lpstr>План защиты</vt:lpstr>
      <vt:lpstr>Презентация PowerPoint</vt:lpstr>
      <vt:lpstr>Какие технологии использовались </vt:lpstr>
      <vt:lpstr>Схема сети</vt:lpstr>
      <vt:lpstr>Vlan</vt:lpstr>
      <vt:lpstr>Vlan - реализация</vt:lpstr>
      <vt:lpstr>Vlan – реализация «Роутер на палочке»</vt:lpstr>
      <vt:lpstr>STP – протокол связующего дерева</vt:lpstr>
      <vt:lpstr>STP реализация</vt:lpstr>
      <vt:lpstr>Избыточность линков </vt:lpstr>
      <vt:lpstr>Избыточность линков – реализация PortChannel </vt:lpstr>
      <vt:lpstr>Избыточность линков – реализация HSRP</vt:lpstr>
      <vt:lpstr>DHCP – протокол динамической конфигурации узла</vt:lpstr>
      <vt:lpstr>DHCP – реализация</vt:lpstr>
      <vt:lpstr>Маршрутизация</vt:lpstr>
      <vt:lpstr>Маршрутизация - реализация</vt:lpstr>
      <vt:lpstr>ACL – листы контроля доступа</vt:lpstr>
      <vt:lpstr>ACL – реализация</vt:lpstr>
      <vt:lpstr>NAT</vt:lpstr>
      <vt:lpstr>NAT – реализация «c перегрузкой» - PAT</vt:lpstr>
      <vt:lpstr>NAT – реализация «статический в порт»</vt:lpstr>
      <vt:lpstr>Выводы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Александрович Яркин</dc:creator>
  <cp:lastModifiedBy>Алексей Александрович Яркин</cp:lastModifiedBy>
  <cp:revision>46</cp:revision>
  <dcterms:created xsi:type="dcterms:W3CDTF">2026-07-29T08:04:33Z</dcterms:created>
  <dcterms:modified xsi:type="dcterms:W3CDTF">2026-08-27T10:11:32Z</dcterms:modified>
</cp:coreProperties>
</file>